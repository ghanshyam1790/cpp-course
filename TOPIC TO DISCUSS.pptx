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2316" y="-10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79E8D3-5749-4253-A53D-D291D61CF19C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F6A1C-6A43-4366-99FF-DEED163C7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667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6858000" cy="391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3900382"/>
            <a:ext cx="6858000" cy="211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885950" y="3149600"/>
            <a:ext cx="3086100" cy="1503680"/>
          </a:xfrm>
          <a:prstGeom prst="rect">
            <a:avLst/>
          </a:prstGeom>
          <a:solidFill>
            <a:schemeClr val="tx1"/>
          </a:solidFill>
          <a:ln w="76200" cmpd="thinThick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/>
          <a:p>
            <a:pPr algn="ctr" defTabSz="914400" rtl="0" eaLnBrk="1" latinLnBrk="0" hangingPunct="1">
              <a:spcBef>
                <a:spcPts val="400"/>
              </a:spcBef>
              <a:buNone/>
            </a:pPr>
            <a:endParaRPr lang="en-US" sz="1800" b="1" kern="1200" cap="all" spc="0" baseline="0" smtClean="0">
              <a:solidFill>
                <a:schemeClr val="bg1"/>
              </a:solidFill>
              <a:latin typeface="+mj-lt"/>
              <a:ea typeface="+mj-ea"/>
              <a:cs typeface="Tunga" pitchFamily="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4050" y="4060614"/>
            <a:ext cx="3009900" cy="571500"/>
          </a:xfrm>
        </p:spPr>
        <p:txBody>
          <a:bodyPr tIns="0" anchor="t">
            <a:noAutofit/>
          </a:bodyPr>
          <a:lstStyle>
            <a:lvl1pPr marL="0" indent="0" algn="ctr">
              <a:buNone/>
              <a:defRPr sz="1600" b="0" i="0" cap="none" spc="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924050" y="3197014"/>
            <a:ext cx="3009900" cy="799253"/>
          </a:xfrm>
          <a:noFill/>
          <a:ln>
            <a:noFill/>
          </a:ln>
        </p:spPr>
        <p:txBody>
          <a:bodyPr bIns="0" anchor="b"/>
          <a:lstStyle>
            <a:lvl1pPr>
              <a:defRPr>
                <a:effectLst>
                  <a:glow rad="88900">
                    <a:schemeClr val="tx1">
                      <a:alpha val="60000"/>
                    </a:schemeClr>
                  </a:glo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886A680F-EA65-4943-81CD-8A6B49F4894E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BE76E0C-43DE-4A99-BC7B-5CD957F0A2F2}" type="slidenum">
              <a:rPr lang="en-IN" smtClean="0"/>
              <a:t>‹#›</a:t>
            </a:fld>
            <a:endParaRPr lang="en-IN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42900" y="2694432"/>
            <a:ext cx="6172200" cy="543356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86A680F-EA65-4943-81CD-8A6B49F4894E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BE76E0C-43DE-4A99-BC7B-5CD957F0A2F2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230368"/>
            <a:ext cx="6858000" cy="39136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5229014"/>
            <a:ext cx="6858000" cy="2117"/>
          </a:xfrm>
          <a:prstGeom prst="line">
            <a:avLst/>
          </a:prstGeom>
          <a:ln w="127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885950" y="4490720"/>
            <a:ext cx="3086100" cy="1503680"/>
          </a:xfrm>
          <a:prstGeom prst="rect">
            <a:avLst/>
          </a:prstGeom>
          <a:solidFill>
            <a:schemeClr val="tx1"/>
          </a:solidFill>
          <a:ln w="76200" cmpd="thinThick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/>
          <a:p>
            <a:pPr algn="ctr" defTabSz="914400" rtl="0" eaLnBrk="1" latinLnBrk="0" hangingPunct="1">
              <a:spcBef>
                <a:spcPts val="400"/>
              </a:spcBef>
              <a:buNone/>
            </a:pPr>
            <a:endParaRPr lang="en-US" sz="1800" b="1" kern="1200" cap="all" spc="0" baseline="0" smtClean="0">
              <a:solidFill>
                <a:schemeClr val="bg1"/>
              </a:solidFill>
              <a:latin typeface="+mj-lt"/>
              <a:ea typeface="+mj-ea"/>
              <a:cs typeface="Tunga" pitchFamily="2"/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black">
          <a:xfrm>
            <a:off x="1896789" y="4489662"/>
            <a:ext cx="3064423" cy="942428"/>
          </a:xfrm>
          <a:prstGeom prst="rect">
            <a:avLst/>
          </a:prstGeom>
          <a:noFill/>
          <a:ln w="98425" cmpd="thinThick">
            <a:noFill/>
            <a:miter lim="800000"/>
          </a:ln>
        </p:spPr>
        <p:txBody>
          <a:bodyPr vert="horz" lIns="91440" tIns="45720" rIns="91440" bIns="0" rtlCol="0" anchor="b" anchorCtr="0">
            <a:normAutofit/>
          </a:bodyPr>
          <a:lstStyle>
            <a:lvl1pPr>
              <a:defRPr kumimoji="0" lang="en-US" sz="1800" b="1" i="0" u="none" strike="noStrike" kern="1200" cap="all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Tunga" pitchFamily="2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 bwMode="black">
          <a:xfrm>
            <a:off x="1888907" y="5446103"/>
            <a:ext cx="3080188" cy="529459"/>
          </a:xfrm>
        </p:spPr>
        <p:txBody>
          <a:bodyPr tIns="0" anchor="t" anchorCtr="0">
            <a:normAutofit/>
          </a:bodyPr>
          <a:lstStyle>
            <a:lvl1pPr marL="0" indent="0" algn="ctr">
              <a:buNone/>
              <a:def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Tahom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A680F-EA65-4943-81CD-8A6B49F4894E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BE76E0C-43DE-4A99-BC7B-5CD957F0A2F2}" type="slidenum">
              <a:rPr lang="en-IN" smtClean="0"/>
              <a:t>‹#›</a:t>
            </a:fld>
            <a:endParaRPr lang="en-IN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30"/>
          <p:cNvSpPr>
            <a:spLocks noGrp="1"/>
          </p:cNvSpPr>
          <p:nvPr>
            <p:ph sz="quarter" idx="13"/>
          </p:nvPr>
        </p:nvSpPr>
        <p:spPr>
          <a:xfrm>
            <a:off x="342901" y="2694432"/>
            <a:ext cx="3017520" cy="534009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Content Placeholder 30"/>
          <p:cNvSpPr>
            <a:spLocks noGrp="1"/>
          </p:cNvSpPr>
          <p:nvPr>
            <p:ph sz="quarter" idx="14"/>
          </p:nvPr>
        </p:nvSpPr>
        <p:spPr>
          <a:xfrm>
            <a:off x="3497580" y="2694432"/>
            <a:ext cx="3017520" cy="534009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86A680F-EA65-4943-81CD-8A6B49F4894E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BE76E0C-43DE-4A99-BC7B-5CD957F0A2F2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30"/>
          <p:cNvSpPr>
            <a:spLocks noGrp="1"/>
          </p:cNvSpPr>
          <p:nvPr>
            <p:ph sz="quarter" idx="13"/>
          </p:nvPr>
        </p:nvSpPr>
        <p:spPr>
          <a:xfrm>
            <a:off x="342901" y="3759200"/>
            <a:ext cx="3017520" cy="427939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4" name="Content Placeholder 30"/>
          <p:cNvSpPr>
            <a:spLocks noGrp="1"/>
          </p:cNvSpPr>
          <p:nvPr>
            <p:ph sz="quarter" idx="14"/>
          </p:nvPr>
        </p:nvSpPr>
        <p:spPr>
          <a:xfrm>
            <a:off x="3497580" y="3755136"/>
            <a:ext cx="3017520" cy="427939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694432"/>
            <a:ext cx="3017520" cy="938784"/>
          </a:xfrm>
          <a:noFill/>
          <a:ln w="98425" cmpd="thinThick">
            <a:noFill/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spcBef>
                <a:spcPts val="400"/>
              </a:spcBef>
              <a:buNone/>
              <a:defRPr lang="en-US" sz="1800" b="1" kern="1200" cap="none" spc="200" baseline="0" smtClean="0">
                <a:solidFill>
                  <a:schemeClr val="tx1"/>
                </a:solidFill>
                <a:latin typeface="+mj-lt"/>
                <a:ea typeface="+mj-ea"/>
                <a:cs typeface="Tunga" pitchFamily="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5"/>
          </p:nvPr>
        </p:nvSpPr>
        <p:spPr>
          <a:xfrm>
            <a:off x="3497580" y="2694432"/>
            <a:ext cx="3017520" cy="938784"/>
          </a:xfrm>
          <a:noFill/>
          <a:ln w="98425" cmpd="thinThick">
            <a:noFill/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spcBef>
                <a:spcPts val="400"/>
              </a:spcBef>
              <a:buNone/>
              <a:defRPr lang="en-US" sz="1800" b="1" i="0" kern="1200" cap="none" spc="200" baseline="0" dirty="0" smtClean="0">
                <a:solidFill>
                  <a:schemeClr val="tx1"/>
                </a:solidFill>
                <a:latin typeface="+mj-lt"/>
                <a:ea typeface="+mj-ea"/>
                <a:cs typeface="Tunga" pitchFamily="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Tx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86A680F-EA65-4943-81CD-8A6B49F4894E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BE76E0C-43DE-4A99-BC7B-5CD957F0A2F2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A680F-EA65-4943-81CD-8A6B49F4894E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BE76E0C-43DE-4A99-BC7B-5CD957F0A2F2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A680F-EA65-4943-81CD-8A6B49F4894E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BE76E0C-43DE-4A99-BC7B-5CD957F0A2F2}" type="slidenum">
              <a:rPr lang="en-IN" smtClean="0"/>
              <a:t>‹#›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30"/>
          <p:cNvSpPr>
            <a:spLocks noGrp="1"/>
          </p:cNvSpPr>
          <p:nvPr>
            <p:ph sz="quarter" idx="14"/>
          </p:nvPr>
        </p:nvSpPr>
        <p:spPr>
          <a:xfrm>
            <a:off x="1114425" y="2552701"/>
            <a:ext cx="4629150" cy="46812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/>
          </p:nvPr>
        </p:nvSpPr>
        <p:spPr>
          <a:xfrm>
            <a:off x="1303020" y="7351776"/>
            <a:ext cx="4251960" cy="731520"/>
          </a:xfrm>
        </p:spPr>
        <p:txBody>
          <a:bodyPr vert="horz" lIns="91440" tIns="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itchFamily="34" charset="0"/>
              <a:buNone/>
              <a:defRPr lang="en-US" sz="1400" b="0" i="0" kern="1200" cap="none" spc="0" baseline="0" smtClean="0">
                <a:solidFill>
                  <a:schemeClr val="tx1"/>
                </a:solidFill>
                <a:latin typeface="+mn-lt"/>
                <a:ea typeface="+mn-ea"/>
                <a:cs typeface="Tahoma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86A680F-EA65-4943-81CD-8A6B49F4894E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BE76E0C-43DE-4A99-BC7B-5CD957F0A2F2}" type="slidenum">
              <a:rPr lang="en-IN" smtClean="0"/>
              <a:t>‹#›</a:t>
            </a:fld>
            <a:endParaRPr lang="en-IN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89157" y="2702557"/>
            <a:ext cx="4079687" cy="4351667"/>
          </a:xfrm>
          <a:solidFill>
            <a:schemeClr val="tx1"/>
          </a:solidFill>
          <a:ln w="69850" cmpd="dbl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spcBef>
                <a:spcPts val="400"/>
              </a:spcBef>
              <a:buNone/>
              <a:defRPr lang="en-US" sz="1800" b="0" kern="1200" cap="none" spc="0" baseline="0" dirty="0">
                <a:solidFill>
                  <a:schemeClr val="bg1"/>
                </a:solidFill>
                <a:latin typeface="+mj-lt"/>
                <a:ea typeface="+mj-ea"/>
                <a:cs typeface="Tunga" pitchFamily="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3"/>
          </p:nvPr>
        </p:nvSpPr>
        <p:spPr>
          <a:xfrm>
            <a:off x="1303020" y="7355840"/>
            <a:ext cx="4251960" cy="731520"/>
          </a:xfrm>
        </p:spPr>
        <p:txBody>
          <a:bodyPr vert="horz" lIns="91440" tIns="0" rIns="91440" bIns="0" rtlCol="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lang="en-US" sz="1400" b="0" i="0" kern="1200" cap="none" spc="30" baseline="0" smtClean="0">
                <a:solidFill>
                  <a:schemeClr val="tx2"/>
                </a:solidFill>
                <a:latin typeface="+mn-lt"/>
                <a:ea typeface="+mn-ea"/>
                <a:cs typeface="Tahoma" pitchFamily="34" charset="0"/>
              </a:defRPr>
            </a:lvl1pPr>
            <a:lvl2pPr marL="171450" indent="1588">
              <a:buNone/>
              <a:defRPr>
                <a:solidFill>
                  <a:schemeClr val="bg2"/>
                </a:solidFill>
              </a:defRPr>
            </a:lvl2pPr>
            <a:lvl3pPr marL="344488" indent="6350">
              <a:buNone/>
              <a:defRPr>
                <a:solidFill>
                  <a:schemeClr val="bg2"/>
                </a:solidFill>
              </a:defRPr>
            </a:lvl3pPr>
            <a:lvl4pPr marL="515938" indent="3175">
              <a:buNone/>
              <a:defRPr>
                <a:solidFill>
                  <a:schemeClr val="bg2"/>
                </a:solidFill>
              </a:defRPr>
            </a:lvl4pPr>
            <a:lvl5pPr marL="688975" indent="-1588">
              <a:buNone/>
              <a:defRPr>
                <a:solidFill>
                  <a:schemeClr val="bg2"/>
                </a:solidFill>
              </a:defRPr>
            </a:lvl5pPr>
          </a:lstStyle>
          <a:p>
            <a:pPr marL="0" lvl="0" indent="0" algn="ctr" defTabSz="914400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885950" y="1300480"/>
            <a:ext cx="3086100" cy="9347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>
          <a:xfrm>
            <a:off x="2235994" y="364240"/>
            <a:ext cx="2386013" cy="389467"/>
          </a:xfrm>
        </p:spPr>
        <p:txBody>
          <a:bodyPr/>
          <a:lstStyle/>
          <a:p>
            <a:fld id="{886A680F-EA65-4943-81CD-8A6B49F4894E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5"/>
          </p:nvPr>
        </p:nvSpPr>
        <p:spPr>
          <a:xfrm>
            <a:off x="3028950" y="8229600"/>
            <a:ext cx="800100" cy="406400"/>
          </a:xfrm>
        </p:spPr>
        <p:txBody>
          <a:bodyPr/>
          <a:lstStyle/>
          <a:p>
            <a:fld id="{DBE76E0C-43DE-4A99-BC7B-5CD957F0A2F2}" type="slidenum">
              <a:rPr lang="en-IN" smtClean="0"/>
              <a:t>‹#›</a:t>
            </a:fld>
            <a:endParaRPr lang="en-IN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6"/>
          </p:nvPr>
        </p:nvSpPr>
        <p:spPr>
          <a:xfrm>
            <a:off x="1085850" y="8648700"/>
            <a:ext cx="4686300" cy="389467"/>
          </a:xfr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A680F-EA65-4943-81CD-8A6B49F4894E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76E0C-43DE-4A99-BC7B-5CD957F0A2F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 rot="5400000">
            <a:off x="1200150" y="4572463"/>
            <a:ext cx="9144000" cy="1191"/>
          </a:xfrm>
          <a:prstGeom prst="line">
            <a:avLst/>
          </a:prstGeom>
          <a:ln w="127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 bwMode="hidden">
          <a:xfrm>
            <a:off x="0" y="1"/>
            <a:ext cx="5772150" cy="9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1219201"/>
            <a:ext cx="4972050" cy="6705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A680F-EA65-4943-81CD-8A6B49F4894E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76E0C-43DE-4A99-BC7B-5CD957F0A2F2}" type="slidenum">
              <a:rPr lang="en-IN" smtClean="0"/>
              <a:t>‹#›</a:t>
            </a:fld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29250" y="1219201"/>
            <a:ext cx="695235" cy="6705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hidden">
          <a:xfrm>
            <a:off x="0" y="1781298"/>
            <a:ext cx="6858000" cy="73627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692401"/>
            <a:ext cx="6172200" cy="54897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35994" y="364240"/>
            <a:ext cx="2386013" cy="3894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cap="all" spc="300" baseline="0">
                <a:solidFill>
                  <a:schemeClr val="tx1"/>
                </a:solidFill>
              </a:defRPr>
            </a:lvl1pPr>
          </a:lstStyle>
          <a:p>
            <a:fld id="{886A680F-EA65-4943-81CD-8A6B49F4894E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5850" y="8648700"/>
            <a:ext cx="4686300" cy="3894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100" b="0" cap="all" spc="300" baseline="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28950" y="8229600"/>
            <a:ext cx="800100" cy="4064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rm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DBE76E0C-43DE-4A99-BC7B-5CD957F0A2F2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1775248"/>
            <a:ext cx="6858000" cy="2117"/>
          </a:xfrm>
          <a:prstGeom prst="line">
            <a:avLst/>
          </a:prstGeom>
          <a:ln w="12700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5950" y="1300480"/>
            <a:ext cx="3086100" cy="934720"/>
          </a:xfrm>
          <a:prstGeom prst="rect">
            <a:avLst/>
          </a:prstGeom>
          <a:solidFill>
            <a:schemeClr val="tx1"/>
          </a:solidFill>
          <a:ln w="76200" cmpd="thinThick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ts val="400"/>
        </a:spcBef>
        <a:buNone/>
        <a:defRPr sz="1800" b="1" kern="1200" cap="all" spc="0" baseline="0">
          <a:solidFill>
            <a:schemeClr val="bg1">
              <a:lumMod val="75000"/>
              <a:lumOff val="25000"/>
            </a:schemeClr>
          </a:solidFill>
          <a:effectLst/>
          <a:latin typeface="+mj-lt"/>
          <a:ea typeface="+mj-ea"/>
          <a:cs typeface="Tunga" pitchFamily="2"/>
        </a:defRPr>
      </a:lvl1pPr>
    </p:titleStyle>
    <p:bodyStyle>
      <a:lvl1pPr marL="0" indent="0" algn="ctr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FontTx/>
        <a:buNone/>
        <a:defRPr sz="2000" b="0" i="0" kern="1200" cap="none" spc="30" baseline="0">
          <a:solidFill>
            <a:schemeClr val="tx1"/>
          </a:solidFill>
          <a:latin typeface="+mn-lt"/>
          <a:ea typeface="+mn-ea"/>
          <a:cs typeface="Tahoma" pitchFamily="34" charset="0"/>
        </a:defRPr>
      </a:lvl1pPr>
      <a:lvl2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800" kern="1200">
          <a:solidFill>
            <a:schemeClr val="tx2"/>
          </a:solidFill>
          <a:latin typeface="+mn-lt"/>
          <a:ea typeface="+mn-ea"/>
          <a:cs typeface="Tahoma" pitchFamily="34" charset="0"/>
        </a:defRPr>
      </a:lvl2pPr>
      <a:lvl3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600" kern="1200">
          <a:solidFill>
            <a:schemeClr val="tx1"/>
          </a:solidFill>
          <a:latin typeface="+mn-lt"/>
          <a:ea typeface="+mn-ea"/>
          <a:cs typeface="Tahoma" pitchFamily="34" charset="0"/>
        </a:defRPr>
      </a:lvl3pPr>
      <a:lvl4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400" kern="1200">
          <a:solidFill>
            <a:schemeClr val="tx2"/>
          </a:solidFill>
          <a:latin typeface="+mn-lt"/>
          <a:ea typeface="+mn-ea"/>
          <a:cs typeface="Tahoma" pitchFamily="34" charset="0"/>
        </a:defRPr>
      </a:lvl4pPr>
      <a:lvl5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400" kern="1200" baseline="0">
          <a:solidFill>
            <a:schemeClr val="tx1"/>
          </a:solidFill>
          <a:latin typeface="+mn-lt"/>
          <a:ea typeface="+mn-ea"/>
          <a:cs typeface="Tahoma" pitchFamily="34" charset="0"/>
        </a:defRPr>
      </a:lvl5pPr>
      <a:lvl6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342900" indent="-342900" algn="l">
              <a:buFont typeface="Wingdings" pitchFamily="2" charset="2"/>
              <a:buChar char="§"/>
            </a:pPr>
            <a:r>
              <a:rPr lang="en-US" sz="3200" dirty="0" smtClean="0"/>
              <a:t>Why we needed any other language for coding?</a:t>
            </a:r>
          </a:p>
          <a:p>
            <a:pPr marL="342900" indent="-342900" algn="l">
              <a:buFont typeface="Wingdings" pitchFamily="2" charset="2"/>
              <a:buChar char="§"/>
            </a:pPr>
            <a:r>
              <a:rPr lang="en-US" sz="3200" dirty="0" smtClean="0"/>
              <a:t>We should have made the compilers which just directly converts </a:t>
            </a:r>
            <a:r>
              <a:rPr lang="en-US" sz="3200" dirty="0" err="1" smtClean="0"/>
              <a:t>english</a:t>
            </a:r>
            <a:r>
              <a:rPr lang="en-US" sz="3200" dirty="0" smtClean="0"/>
              <a:t> language to 0 and 1 form.</a:t>
            </a:r>
          </a:p>
          <a:p>
            <a:pPr marL="342900" indent="-342900" algn="l">
              <a:buFont typeface="Wingdings" pitchFamily="2" charset="2"/>
              <a:buChar char="§"/>
            </a:pPr>
            <a:r>
              <a:rPr lang="en-US" sz="3200" dirty="0" smtClean="0"/>
              <a:t>Why we need any specific language?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TOPIC TO DISCUSS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8720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0688" y="827584"/>
            <a:ext cx="5544616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400" dirty="0" err="1" smtClean="0"/>
              <a:t>Everbody</a:t>
            </a:r>
            <a:r>
              <a:rPr lang="en-US" sz="2400" dirty="0" smtClean="0"/>
              <a:t> knows the use of compiler.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sz="2400" dirty="0"/>
          </a:p>
          <a:p>
            <a:pPr algn="ctr"/>
            <a:r>
              <a:rPr lang="en-US" sz="2400" dirty="0" smtClean="0"/>
              <a:t>Humans</a:t>
            </a:r>
          </a:p>
          <a:p>
            <a:pPr algn="ctr"/>
            <a:endParaRPr lang="en-US" sz="2400" dirty="0"/>
          </a:p>
          <a:p>
            <a:pPr algn="ctr"/>
            <a:endParaRPr lang="en-US" sz="2400" dirty="0" smtClean="0"/>
          </a:p>
          <a:p>
            <a:pPr algn="ctr"/>
            <a:r>
              <a:rPr lang="en-US" sz="2400" dirty="0" smtClean="0"/>
              <a:t>English(Of coding language)</a:t>
            </a:r>
          </a:p>
          <a:p>
            <a:pPr algn="ctr"/>
            <a:endParaRPr lang="en-US" sz="2400" dirty="0" smtClean="0"/>
          </a:p>
          <a:p>
            <a:pPr algn="ctr"/>
            <a:endParaRPr lang="en-US" sz="2400" dirty="0" smtClean="0"/>
          </a:p>
          <a:p>
            <a:pPr algn="ctr"/>
            <a:r>
              <a:rPr lang="en-US" sz="2400" dirty="0" smtClean="0"/>
              <a:t>Compiler</a:t>
            </a:r>
          </a:p>
          <a:p>
            <a:pPr algn="ctr"/>
            <a:endParaRPr lang="en-US" sz="2400" dirty="0" smtClean="0"/>
          </a:p>
          <a:p>
            <a:pPr algn="ctr"/>
            <a:endParaRPr lang="en-US" sz="2400" dirty="0"/>
          </a:p>
          <a:p>
            <a:pPr algn="ctr"/>
            <a:r>
              <a:rPr lang="en-US" sz="2400" dirty="0" smtClean="0"/>
              <a:t>Machine Code(0s and 1s)</a:t>
            </a:r>
          </a:p>
          <a:p>
            <a:pPr algn="ctr"/>
            <a:endParaRPr lang="en-US" sz="2400" dirty="0"/>
          </a:p>
          <a:p>
            <a:pPr algn="ctr"/>
            <a:endParaRPr lang="en-US" sz="2400" dirty="0" smtClean="0"/>
          </a:p>
          <a:p>
            <a:pPr algn="ctr"/>
            <a:r>
              <a:rPr lang="en-US" sz="2400" dirty="0" smtClean="0"/>
              <a:t>Computer</a:t>
            </a:r>
          </a:p>
          <a:p>
            <a:pPr algn="ctr"/>
            <a:endParaRPr lang="en-US" sz="2400" dirty="0"/>
          </a:p>
          <a:p>
            <a:pPr marL="342900" indent="-342900">
              <a:buFont typeface="Wingdings" pitchFamily="2" charset="2"/>
              <a:buChar char="q"/>
            </a:pPr>
            <a:r>
              <a:rPr lang="en-US" sz="2400" dirty="0" smtClean="0"/>
              <a:t>But the question is same why not direct </a:t>
            </a:r>
            <a:r>
              <a:rPr lang="en-US" sz="2400" dirty="0" err="1" smtClean="0"/>
              <a:t>english</a:t>
            </a:r>
            <a:r>
              <a:rPr lang="en-US" sz="2400" dirty="0" smtClean="0"/>
              <a:t>????</a:t>
            </a:r>
            <a:endParaRPr lang="en-IN" sz="2400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3392996" y="1981746"/>
            <a:ext cx="0" cy="646038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3397188" y="3228534"/>
            <a:ext cx="0" cy="646038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3397188" y="4201542"/>
            <a:ext cx="0" cy="646038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3382330" y="5436096"/>
            <a:ext cx="0" cy="646038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2138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80" y="64591"/>
            <a:ext cx="5616624" cy="9079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v"/>
            </a:pPr>
            <a:r>
              <a:rPr lang="en-US" sz="2800" dirty="0" smtClean="0"/>
              <a:t>First of all humans tried but </a:t>
            </a:r>
            <a:r>
              <a:rPr lang="en-US" sz="2800" dirty="0" err="1" smtClean="0"/>
              <a:t>english</a:t>
            </a:r>
            <a:r>
              <a:rPr lang="en-US" sz="2800" dirty="0" smtClean="0"/>
              <a:t> language had too many meaning for single word.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en-US" sz="2800" dirty="0" smtClean="0"/>
              <a:t>For </a:t>
            </a:r>
            <a:r>
              <a:rPr lang="en-US" sz="2800" dirty="0" err="1" smtClean="0"/>
              <a:t>eg</a:t>
            </a:r>
            <a:r>
              <a:rPr lang="en-US" sz="2800" dirty="0" smtClean="0"/>
              <a:t>.- 1) If u say open a bank, now question by computer is- which bank river one or financial bank.</a:t>
            </a:r>
          </a:p>
          <a:p>
            <a:r>
              <a:rPr lang="en-US" sz="2800" dirty="0"/>
              <a:t>	 </a:t>
            </a:r>
            <a:r>
              <a:rPr lang="en-US" sz="2800" dirty="0" smtClean="0"/>
              <a:t>   2) You say to </a:t>
            </a:r>
            <a:r>
              <a:rPr lang="en-US" sz="2800" dirty="0" err="1" smtClean="0"/>
              <a:t>frnd</a:t>
            </a:r>
            <a:r>
              <a:rPr lang="en-US" sz="2800" dirty="0" smtClean="0"/>
              <a:t>, if it’s raining outside, take an umbrella. Computer asks or get confused- i) </a:t>
            </a:r>
            <a:r>
              <a:rPr lang="en-US" sz="2800" dirty="0" err="1" smtClean="0"/>
              <a:t>wht</a:t>
            </a:r>
            <a:r>
              <a:rPr lang="en-US" sz="2800" dirty="0" smtClean="0"/>
              <a:t> is rain, ii) how to detect it, iii) </a:t>
            </a:r>
            <a:r>
              <a:rPr lang="en-US" sz="2800" dirty="0" err="1" smtClean="0"/>
              <a:t>wht</a:t>
            </a:r>
            <a:r>
              <a:rPr lang="en-US" sz="2800" dirty="0" smtClean="0"/>
              <a:t> and why umbrella is and numerous of questions.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en-US" sz="2800" dirty="0" smtClean="0"/>
              <a:t>So compiler just want to know each and every details and a logical detail not with different meanings, so we built a coding language which is specific.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en-US" sz="2800" dirty="0"/>
              <a:t> </a:t>
            </a:r>
            <a:r>
              <a:rPr lang="en-US" sz="2800" dirty="0" smtClean="0"/>
              <a:t>Computers don’t assume anything which is why even a semi-colon matters for it.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76922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>
          <a:xfrm>
            <a:off x="476672" y="1907704"/>
            <a:ext cx="6172200" cy="5433568"/>
          </a:xfrm>
        </p:spPr>
        <p:txBody>
          <a:bodyPr>
            <a:normAutofit/>
          </a:bodyPr>
          <a:lstStyle/>
          <a:p>
            <a:r>
              <a:rPr lang="en-US" sz="4400" dirty="0" smtClean="0"/>
              <a:t>THANK YOU!!!</a:t>
            </a:r>
          </a:p>
          <a:p>
            <a:endParaRPr lang="en-US" sz="4400" dirty="0"/>
          </a:p>
          <a:p>
            <a:r>
              <a:rPr lang="en-US" sz="4400" dirty="0" smtClean="0"/>
              <a:t>FOLLOW OR SUBSCRIBE BUT CLEARING MORE SUCH INTERESTING DOUBTS.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1779870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ackTie">
  <a:themeElements>
    <a:clrScheme name="BlackTie">
      <a:dk1>
        <a:srgbClr val="000000"/>
      </a:dk1>
      <a:lt1>
        <a:srgbClr val="FFFFFF"/>
      </a:lt1>
      <a:dk2>
        <a:srgbClr val="46464A"/>
      </a:dk2>
      <a:lt2>
        <a:srgbClr val="E3DCCF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BlackTie">
      <a:maj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BlackTie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20000"/>
              </a:schemeClr>
            </a:gs>
            <a:gs pos="30000">
              <a:schemeClr val="phClr">
                <a:tint val="61000"/>
                <a:satMod val="220000"/>
              </a:schemeClr>
            </a:gs>
            <a:gs pos="45000">
              <a:schemeClr val="phClr">
                <a:tint val="66000"/>
                <a:satMod val="240000"/>
              </a:schemeClr>
            </a:gs>
            <a:gs pos="55000">
              <a:schemeClr val="phClr">
                <a:tint val="66000"/>
                <a:satMod val="220000"/>
              </a:schemeClr>
            </a:gs>
            <a:gs pos="73000">
              <a:schemeClr val="phClr">
                <a:tint val="61000"/>
                <a:satMod val="220000"/>
              </a:schemeClr>
            </a:gs>
            <a:gs pos="100000">
              <a:schemeClr val="phClr">
                <a:tint val="45000"/>
                <a:satMod val="22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  <a:satMod val="110000"/>
              </a:schemeClr>
            </a:gs>
            <a:gs pos="30000">
              <a:schemeClr val="phClr">
                <a:shade val="90000"/>
                <a:satMod val="120000"/>
              </a:schemeClr>
            </a:gs>
            <a:gs pos="45000">
              <a:schemeClr val="phClr">
                <a:shade val="100000"/>
                <a:satMod val="128000"/>
              </a:schemeClr>
            </a:gs>
            <a:gs pos="55000">
              <a:schemeClr val="phClr">
                <a:shade val="100000"/>
                <a:satMod val="128000"/>
              </a:schemeClr>
            </a:gs>
            <a:gs pos="73000">
              <a:schemeClr val="phClr">
                <a:shade val="90000"/>
                <a:satMod val="120000"/>
              </a:schemeClr>
            </a:gs>
            <a:gs pos="100000">
              <a:schemeClr val="phClr">
                <a:shade val="63000"/>
                <a:satMod val="110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190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7150" dist="38100" dir="5400000" algn="br" rotWithShape="0">
              <a:srgbClr val="000000">
                <a:alpha val="5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1800000"/>
            </a:lightRig>
          </a:scene3d>
          <a:sp3d>
            <a:bevelT w="44450" h="31750" prst="coolSlant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20000"/>
              </a:schemeClr>
            </a:duotone>
          </a:blip>
          <a:stretch/>
        </a:blip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30000"/>
                <a:satMod val="255000"/>
              </a:schemeClr>
            </a:gs>
          </a:gsLst>
          <a:path path="circle">
            <a:fillToRect l="50000" t="-80000" r="50000" b="18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Black Tie</Template>
  <TotalTime>36</TotalTime>
  <Words>120</Words>
  <Application>Microsoft Office PowerPoint</Application>
  <PresentationFormat>On-screen Show (4:3)</PresentationFormat>
  <Paragraphs>29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BlackTie</vt:lpstr>
      <vt:lpstr>TOPIC TO DISCUSS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TO DISCUSS</dc:title>
  <dc:creator>Ghanshyam Pandey</dc:creator>
  <cp:lastModifiedBy>Ghanshyam Pandey</cp:lastModifiedBy>
  <cp:revision>4</cp:revision>
  <dcterms:created xsi:type="dcterms:W3CDTF">2026-06-30T18:22:21Z</dcterms:created>
  <dcterms:modified xsi:type="dcterms:W3CDTF">2026-06-30T18:59:12Z</dcterms:modified>
</cp:coreProperties>
</file>